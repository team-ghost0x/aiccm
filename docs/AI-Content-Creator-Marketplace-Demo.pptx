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SLIDE 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Brands Struggle to Find &amp; Evaluate AI-Native Creative 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Traditional freelance directories are built for legacy production and fail to address generative AI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39319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999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Generic Marketplaces Fail AI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99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8FAFC"/>
                </a:solidFill>
              </a:defRPr>
            </a:pPr>
            <a:r>
              <a:t>•  Legacy Categorization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Existing platforms categorize by 'video editor' or 'illustrator', ignoring diffusion models and neural pipelines.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 No AI Stack Metadata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Cannot filter by specific toolchains: ComfyUI, Runway Gen-3, Midjourney v6, Flux.1, or Kling AI.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 Mismatch in Production Flow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Zero support for prompt reproducibility, seed management, or iterative generative take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91640"/>
            <a:ext cx="3364992" cy="39319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74520"/>
            <a:ext cx="2999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Need for Verified Creative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423160"/>
            <a:ext cx="2999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8FAFC"/>
                </a:solidFill>
              </a:defRPr>
            </a:pPr>
            <a:r>
              <a:t>•  Claims vs. Execution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Anyone can generate lucky one-off prompts; commercial clients need consistent style and character continuity.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 No Technical Proof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Generic portfolios lack prompt breakdowns, LoRA weights, control passes, or motion vector documentation.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 High Procurement Risk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Brands risk costly project failures due to creators unable to handle targeted revisions or tight turnaround.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91640"/>
            <a:ext cx="3364992" cy="39319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74520"/>
            <a:ext cx="2999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Tool, Format &amp; Commercial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23160"/>
            <a:ext cx="2999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8FAFC"/>
                </a:solidFill>
              </a:defRPr>
            </a:pPr>
            <a:r>
              <a:t>•  Multi-Ratio Deliverables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Modern campaigns demand simultaneous 9:16 vertical reels, 16:9 cinematic masters, and 1:1 squares.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 Complex Rights &amp; Disclosure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Brands require clear commercial rights transfer, explicit AI disclosure labeling, and model-training opt-outs.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 Unclear Cost Structures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Generative GPU compute and rendering compute costs are hidden or unpredictable on traditional marketplaces.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solidFill>
            <a:srgbClr val="141826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CORE PROBLEM: Brands cannot risk marketing budgets on unvetted generative claims without verified tool capability, multi-format delivery guarantees, and explicit commercial rights.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SLIDE 2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Retake: An AI-Native Content Creator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 purpose-built platform connecting brands &amp; agencies with vetted AI filmmakers, animators, and generative artists.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92024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A78BFA"/>
                </a:solidFill>
              </a:defRPr>
            </a:pPr>
            <a:r>
              <a:t>1. Targeted Two-Sided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•  Brands &amp; Creative Agencies: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Search verified creators, post campaign briefs, review versioned takes, and hold milestones in INR escrow.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•  AI Filmmakers &amp; Generative Artists: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Demonstrate workflow evidence, link custom LoRA pipelines, quote rates, and deliver multi-format master takes.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91640"/>
            <a:ext cx="5212080" cy="192024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828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A78BFA"/>
                </a:solidFill>
              </a:defRPr>
            </a:pPr>
            <a:r>
              <a:t>2. Structured Creative Briefs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•  Natural Language AI Idea Drafting: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Translates raw campaign concepts into structured objectives, formats, tools, and turnaround timelines.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•  Multi-Ratio &amp; Deliverable Scoping: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Native support for simultaneous 9:16 vertical social reels, 16:9 cinematic masters, and 1:1 promo cuts.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A78BFA"/>
                </a:solidFill>
              </a:defRPr>
            </a:pPr>
            <a:r>
              <a:t>3. Capability-Verified Portfolios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•  Verified AI Toolchain Badges: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Creators showcase verified expertise in ComfyUI, Runway Gen-3, Midjourney v6, Kling AI, and custom LoRAs.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•  Technical Prompt Dossiers: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Every portfolio piece includes model checkpoints, seed guidance, aspect ratios, and workflow proof.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794760"/>
            <a:ext cx="5212080" cy="192024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931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A78BFA"/>
                </a:solidFill>
              </a:defRPr>
            </a:pPr>
            <a:r>
              <a:t>4. Commercial Rights &amp; Escrow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29768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•  Granular Commercial Matrix: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Pre-set usage rights (paid social, broadcast, web), territory (India/Global), term length, and model-training opt-outs.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•  Milestone Workflow Escrow: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Funds held securely in platform escrow and released upon milestone take approval and rights certificate issuance.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97880"/>
            <a:ext cx="10725912" cy="502920"/>
          </a:xfrm>
          <a:prstGeom prst="rect">
            <a:avLst/>
          </a:prstGeom>
          <a:solidFill>
            <a:srgbClr val="161B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25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CORE VALUE: Discover creators based on verified AI capability  |  Publish structured campaign briefs  |  Safeguard commercial rights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SLIDE 3 — LIVE PRODUCT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Genuine Screenshots of Implemented Application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Captured directly from running Next.js frontend, Express API server, and live MariaDB/MySQL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72184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78BFA"/>
                </a:solidFill>
              </a:defRPr>
            </a:pPr>
            <a:r>
              <a:t>1. Creator Search &amp; Tool Filtering (/discover)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73352"/>
            <a:ext cx="5248656" cy="1911095"/>
          </a:xfrm>
          <a:prstGeom prst="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eator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1874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472184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78BFA"/>
                </a:solidFill>
              </a:defRPr>
            </a:pPr>
            <a:r>
              <a:t>2. Creator Profile Dossier (/creators/arjun-patel)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73352"/>
            <a:ext cx="5248656" cy="1911095"/>
          </a:xfrm>
          <a:prstGeom prst="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eator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212080" cy="18745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712464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78BFA"/>
                </a:solidFill>
              </a:defRPr>
            </a:pPr>
            <a:r>
              <a:t>3. AI Portfolio Piece &amp; Technical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913632"/>
            <a:ext cx="5248656" cy="1911095"/>
          </a:xfrm>
          <a:prstGeom prst="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ortfolio_i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212080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3712464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78BFA"/>
                </a:solidFill>
              </a:defRPr>
            </a:pPr>
            <a:r>
              <a:t>4. Structured Creative Brief Builder (/briefs/new)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913632"/>
            <a:ext cx="5248656" cy="1911095"/>
          </a:xfrm>
          <a:prstGeom prst="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ief_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212080" cy="18745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5989320"/>
            <a:ext cx="10725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All screenshots represent functional production features: live faceted search, creator dossiers, take scrubbing, and authenticated MySQL brief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SLIDE 4 — DATA MODEL &amp; MATCHING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Multi-Dimensional Metadata Representation &amp; Match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How structured brief requirements intersect with verified creator profiles to identify the ideal talent.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3977639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999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</a:defRPr>
            </a:pPr>
            <a:r>
              <a:t>CREATIVE BRIEF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99232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▸ Deliverable Formats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Aspect ratios (9:16 vertical reels, 16:9 cinematic masters, 1:1 square feeds) and exact durations in seconds.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AI Tool Preferences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Keywords and declared tools (Runway Gen-3, ComfyUI, Midjourney, Kling AI, Topaz Upscale).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Commercial License Matrix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Permitted uses (Paid Social, Broadcast, Web), territory (India, Global), term length (12-24 mo), and AI disclosure requirement.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Budget &amp; Turnaround Bounds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Explicit min/max INR budgets and milestone completion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3977639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56232"/>
            <a:ext cx="2999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INTELLIGENT MATCHING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86000"/>
            <a:ext cx="2999232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▸ Tool Verification Weight (35%)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Matches brief requirements against creator badges (reviewed, evidence attached, custom LoRA proof).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Format &amp; Style Fit (25%)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Evaluates creator past portfolio pieces against requested aspect ratios (9:16 vs 16:9) and visual style tags.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Budget &amp; Pricing Fit (20%)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Calculates whether creator priceFromInr falls within brief budget min/max range.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Reputation &amp; Completion (20%)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Considers verified client ratings, project completion count, and average turnaround days.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Smart Constraint Relaxation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Dynamically suggests adjacent tools or turns off strict filters if search constraints are too narrow.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3977639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856232"/>
            <a:ext cx="2999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CREATOR PROFILE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286000"/>
            <a:ext cx="2999232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▸ Verified AI Toolchains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Explicit tool catalog with verified status, motion chaining methods, and specialized workflows.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Portfolio Dossiers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Versioned takes with exact prompt parameters, seed numbers, camera trajectory, and LoRA checkpoints.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Pricing &amp; Rate Tiers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Starting price in INR, standard turnaround days, and commercial usage surcharge policies.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▸ Real-Time Availability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Status indicators (Available, In Production, Booked) synced with MySQL production trackers.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7259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Database Integration: Implemented across relational MySQL tables: users, creators, briefs, applications, and trackers with JSON document indexing.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SLIDE 5 — RESULTS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Implementation Summary &amp; Strategic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Delivered end-to-end functionality, marketplace differentiation, and clearly defined future enhancements.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977639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DELIVERED END-TO-END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8FAFC"/>
                </a:solidFill>
              </a:defRPr>
            </a:pPr>
            <a:r>
              <a:t>✓ Brand Discovery &amp; Faceted Filtering: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Live search by verified AI tool, aspect ratio, budget slider, and specialization.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✓ Authenticated Brief Publishing: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Gated brief creation with AI Idea drafting, Rights Matrix, and direct MySQL insertion.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✓ Capability Dossiers &amp; Take Viewer: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Full creator profiles with verified badges, prompt parameters, and interactive take version scrubber.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✓ Production Milestone Tracker: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Phase-gated progression from Script/Prompting to Final Master Delivery with take approval.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✓ Escrow Wallet &amp; Rights Licensing: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INR wallet deposits, milestone escrow locking, and automated rights certificate generation.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✓ Strict Security &amp; Role Gates: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Protected admin console, role-gated discovery for Brands, and authenticated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91640"/>
            <a:ext cx="5212080" cy="3977639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874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FUTURE ROADMAP (FUTURE 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86000"/>
            <a:ext cx="484632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A78BFA"/>
                </a:solidFill>
              </a:defRPr>
            </a:pPr>
            <a:r>
              <a:t>★ Automated LoRA &amp; Pipeline Verification [Future]: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Direct API integrations with Civitai &amp; Hugging Face to run automated reproducibility tests on creator diffusion checkpoints.</a:t>
            </a:r>
          </a:p>
          <a:p>
            <a:pPr>
              <a:spcBef>
                <a:spcPts val="600"/>
              </a:spcBef>
              <a:defRPr sz="1000" b="1">
                <a:solidFill>
                  <a:srgbClr val="A78BFA"/>
                </a:solidFill>
              </a:defRPr>
            </a:pPr>
            <a:r>
              <a:t>★ Cryptographic C2PA Provenance [Future]: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Embed tamper-proof Content Credentials metadata into final video deliverables to verify human director attribution and model provenance.</a:t>
            </a:r>
          </a:p>
          <a:p>
            <a:pPr>
              <a:spcBef>
                <a:spcPts val="600"/>
              </a:spcBef>
              <a:defRPr sz="1000" b="1">
                <a:solidFill>
                  <a:srgbClr val="A78BFA"/>
                </a:solidFill>
              </a:defRPr>
            </a:pPr>
            <a:r>
              <a:t>★ Real-Time Collaborative Video Annotations [Future]: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Time-coded canvas markup and targeted prompt revision feedback directly on the video player scrubber.</a:t>
            </a:r>
          </a:p>
          <a:p>
            <a:pPr>
              <a:spcBef>
                <a:spcPts val="600"/>
              </a:spcBef>
              <a:defRPr sz="1000" b="1">
                <a:solidFill>
                  <a:srgbClr val="A78BFA"/>
                </a:solidFill>
              </a:defRPr>
            </a:pPr>
            <a:r>
              <a:t>★ Enterprise Multi-Seat Agency Accounts [Future]: 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Hierarchical agency teams with role-based budget approval limits, legal sign-offs, and multi-brand sub-workspaces.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solidFill>
            <a:srgbClr val="161B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DIFFERENTIATION FROM GENERIC MARKETPLACES: Unlike Upwork or Fiverr, Retake is architected specifically around generative diffusion pipelines, verified tool badges, iterative take scrubbers, and explicit AI commercial licensing.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